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12192000"/>
  <p:notesSz cx="6858000" cy="9144000"/>
  <p:embeddedFontLst>
    <p:embeddedFont>
      <p:font typeface="Geo"/>
      <p:regular r:id="rId26"/>
      <p:italic r:id="rId27"/>
    </p:embeddedFont>
    <p:embeddedFont>
      <p:font typeface="Mukta"/>
      <p:regular r:id="rId28"/>
      <p:bold r:id="rId29"/>
    </p:embeddedFont>
    <p:embeddedFont>
      <p:font typeface="Mukta SemiBold"/>
      <p:regular r:id="rId30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Geo-regular.fntdata"/><Relationship Id="rId25" Type="http://schemas.openxmlformats.org/officeDocument/2006/relationships/slide" Target="slides/slide20.xml"/><Relationship Id="rId28" Type="http://schemas.openxmlformats.org/officeDocument/2006/relationships/font" Target="fonts/Mukta-regular.fntdata"/><Relationship Id="rId27" Type="http://schemas.openxmlformats.org/officeDocument/2006/relationships/font" Target="fonts/Ge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ukta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uktaSemiBold-bold.fntdata"/><Relationship Id="rId30" Type="http://schemas.openxmlformats.org/officeDocument/2006/relationships/font" Target="fonts/MuktaSemiBold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image" Target="../media/image4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5.png"/><Relationship Id="rId9" Type="http://schemas.openxmlformats.org/officeDocument/2006/relationships/image" Target="../media/image13.png"/><Relationship Id="rId5" Type="http://schemas.openxmlformats.org/officeDocument/2006/relationships/image" Target="../media/image28.png"/><Relationship Id="rId6" Type="http://schemas.openxmlformats.org/officeDocument/2006/relationships/image" Target="../media/image8.png"/><Relationship Id="rId7" Type="http://schemas.openxmlformats.org/officeDocument/2006/relationships/image" Target="../media/image17.png"/><Relationship Id="rId8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5" Type="http://schemas.openxmlformats.org/officeDocument/2006/relationships/image" Target="../media/image14.png"/><Relationship Id="rId6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23.png"/><Relationship Id="rId6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39.png"/><Relationship Id="rId5" Type="http://schemas.openxmlformats.org/officeDocument/2006/relationships/image" Target="../media/image5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38.png"/><Relationship Id="rId11" Type="http://schemas.openxmlformats.org/officeDocument/2006/relationships/image" Target="../media/image27.png"/><Relationship Id="rId10" Type="http://schemas.openxmlformats.org/officeDocument/2006/relationships/image" Target="../media/image52.png"/><Relationship Id="rId12" Type="http://schemas.openxmlformats.org/officeDocument/2006/relationships/image" Target="../media/image29.png"/><Relationship Id="rId9" Type="http://schemas.openxmlformats.org/officeDocument/2006/relationships/image" Target="../media/image22.png"/><Relationship Id="rId5" Type="http://schemas.openxmlformats.org/officeDocument/2006/relationships/image" Target="../media/image31.png"/><Relationship Id="rId6" Type="http://schemas.openxmlformats.org/officeDocument/2006/relationships/image" Target="../media/image44.png"/><Relationship Id="rId7" Type="http://schemas.openxmlformats.org/officeDocument/2006/relationships/image" Target="../media/image35.png"/><Relationship Id="rId8" Type="http://schemas.openxmlformats.org/officeDocument/2006/relationships/image" Target="../media/image4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3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5.png"/><Relationship Id="rId9" Type="http://schemas.openxmlformats.org/officeDocument/2006/relationships/image" Target="../media/image42.png"/><Relationship Id="rId5" Type="http://schemas.openxmlformats.org/officeDocument/2006/relationships/image" Target="../media/image28.png"/><Relationship Id="rId6" Type="http://schemas.openxmlformats.org/officeDocument/2006/relationships/image" Target="../media/image8.png"/><Relationship Id="rId7" Type="http://schemas.openxmlformats.org/officeDocument/2006/relationships/image" Target="../media/image30.png"/><Relationship Id="rId8" Type="http://schemas.openxmlformats.org/officeDocument/2006/relationships/image" Target="../media/image3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33.png"/><Relationship Id="rId9" Type="http://schemas.openxmlformats.org/officeDocument/2006/relationships/image" Target="../media/image37.png"/><Relationship Id="rId5" Type="http://schemas.openxmlformats.org/officeDocument/2006/relationships/image" Target="../media/image41.png"/><Relationship Id="rId6" Type="http://schemas.openxmlformats.org/officeDocument/2006/relationships/image" Target="../media/image40.png"/><Relationship Id="rId7" Type="http://schemas.openxmlformats.org/officeDocument/2006/relationships/image" Target="../media/image43.png"/><Relationship Id="rId8" Type="http://schemas.openxmlformats.org/officeDocument/2006/relationships/image" Target="../media/image4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47.png"/><Relationship Id="rId5" Type="http://schemas.openxmlformats.org/officeDocument/2006/relationships/image" Target="../media/image51.png"/><Relationship Id="rId6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95437" y="2004566"/>
            <a:ext cx="90011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8BDF8"/>
                </a:solidFill>
                <a:latin typeface="Mukta"/>
                <a:ea typeface="Mukta"/>
                <a:cs typeface="Mukta"/>
                <a:sym typeface="Mukta"/>
              </a:rPr>
              <a:t>कक्षा १० विज्ञान (SEE)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595437" y="2690366"/>
            <a:ext cx="9001125" cy="928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25" u="none" cap="none" strike="noStrike">
                <a:solidFill>
                  <a:srgbClr val="F8FAFC"/>
                </a:solidFill>
                <a:latin typeface="Mukta"/>
                <a:ea typeface="Mukta"/>
                <a:cs typeface="Mukta"/>
                <a:sym typeface="Mukta"/>
              </a:rPr>
              <a:t>एकाइ १०: चाप (Pressure)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809750" y="3809553"/>
            <a:ext cx="8572500" cy="853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BD5E1"/>
                </a:solidFill>
                <a:latin typeface="Mukta"/>
                <a:ea typeface="Mukta"/>
                <a:cs typeface="Mukta"/>
                <a:sym typeface="Mukta"/>
              </a:rPr>
              <a:t>नेपाल सरकार, पाठ्यक्रम विकास केन्द्र (CDC) को पाठ्यक्रममा आधारित सम्पूर्ण र विस्तृत अध्ययन सामग्री।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381625" y="2481262"/>
            <a:ext cx="1428750" cy="571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235517" y="2824162"/>
            <a:ext cx="7720965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75" u="none" cap="none" strike="noStrike">
                <a:solidFill>
                  <a:srgbClr val="F8FAFC"/>
                </a:solidFill>
                <a:latin typeface="Mukta"/>
                <a:ea typeface="Mukta"/>
                <a:cs typeface="Mukta"/>
                <a:sym typeface="Mukta"/>
              </a:rPr>
              <a:t>खण्ड १: चाप र तरल पदार्थको चाप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286000" y="3748087"/>
            <a:ext cx="7620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CBD5E1"/>
                </a:solidFill>
                <a:latin typeface="Mukta"/>
                <a:ea typeface="Mukta"/>
                <a:cs typeface="Mukta"/>
                <a:sym typeface="Mukta"/>
              </a:rPr>
              <a:t>बल, क्षेत्रफल र तरल पदार्थले दिने चापको आधारभूत अवधारणाको विस्तृत अध्ययन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88714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571500" y="1887140"/>
            <a:ext cx="52863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कुनै पनि सतहको प्रति एकाइ क्षेत्रफलमा लम्ब रूपले पर्ने बल (Force) लाई चाप भनिन्छ।</a:t>
            </a:r>
            <a:endParaRPr/>
          </a:p>
        </p:txBody>
      </p:sp>
      <p:pic>
        <p:nvPicPr>
          <p:cNvPr descr="image.png" id="103" name="Google Shape;10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924472"/>
            <a:ext cx="769590" cy="373856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781050" y="3525262"/>
            <a:ext cx="762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•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857250" y="3523357"/>
            <a:ext cx="500062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एकाइ: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 यसको SI एकाइ पास्कल (Pascal - Pa) वा $N/m^2$ हो।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781050" y="4399478"/>
            <a:ext cx="762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•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857250" y="4397573"/>
            <a:ext cx="50006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ठोस वस्तुले दिने चाप यसको तौल र सम्पर्क क्षेत्रफलमा भर पर्छ।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781050" y="4908024"/>
            <a:ext cx="762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•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857250" y="4906119"/>
            <a:ext cx="500062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सम्पर्क क्षेत्रफल जति कम हुन्छ, चाप त्यति नै बढी हुन्छ (जस्तै: सियोको टुप्पोले बढी चाप दिन्छ)।</a:t>
            </a:r>
            <a:endParaRPr/>
          </a:p>
        </p:txBody>
      </p:sp>
      <p:pic>
        <p:nvPicPr>
          <p:cNvPr descr="image.png" id="110" name="Google Shape;11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188714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284C7"/>
                </a:solidFill>
                <a:latin typeface="Mukta"/>
                <a:ea typeface="Mukta"/>
                <a:cs typeface="Mukta"/>
                <a:sym typeface="Mukta"/>
              </a:rPr>
              <a:t>चाप (Pressure) को परिचय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815703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571500" y="1815703"/>
            <a:ext cx="52863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कुनै पनि भाँडोमा राखिएको तरल पदार्थले आफ्नो तौलका कारणले भाँडोको पिंध र भित्तामा दिने चापलाई तरल पदार्थको चाप भनिन्छ।</a:t>
            </a:r>
            <a:endParaRPr/>
          </a:p>
        </p:txBody>
      </p:sp>
      <p:pic>
        <p:nvPicPr>
          <p:cNvPr descr="image.png" id="119" name="Google Shape;11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870894"/>
            <a:ext cx="1089124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781050" y="3453824"/>
            <a:ext cx="762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•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857250" y="3451919"/>
            <a:ext cx="50006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h</a:t>
            </a: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 = तरल पदार्थको गहिराइ (Depth)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781050" y="3962370"/>
            <a:ext cx="762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•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57250" y="3960465"/>
            <a:ext cx="50006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d</a:t>
            </a: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 = तरल पदार्थको घनत्व (Density)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781050" y="4470915"/>
            <a:ext cx="762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•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857250" y="4469010"/>
            <a:ext cx="50006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g</a:t>
            </a: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 = गुरुत्वप्रवेग (Acceleration due to gravity)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781050" y="4979461"/>
            <a:ext cx="762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•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57250" y="4977556"/>
            <a:ext cx="500062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यस सूत्रले देखाउँछ कि तरलको चाप गहिराइ र घनत्वमा प्रत्यक्ष निर्भर गर्दछ।</a:t>
            </a:r>
            <a:endParaRPr/>
          </a:p>
        </p:txBody>
      </p:sp>
      <p:pic>
        <p:nvPicPr>
          <p:cNvPr descr="image.png" id="128" name="Google Shape;12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1815703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284C7"/>
                </a:solidFill>
                <a:latin typeface="Mukta"/>
                <a:ea typeface="Mukta"/>
                <a:cs typeface="Mukta"/>
                <a:sym typeface="Mukta"/>
              </a:rPr>
              <a:t>तरल पदार्थको चाप (Liquid Pressure)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01403"/>
            <a:ext cx="5286375" cy="42646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701403"/>
            <a:ext cx="5286375" cy="4264669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962025" y="2091928"/>
            <a:ext cx="473059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369A1"/>
                </a:solidFill>
                <a:latin typeface="Mukta"/>
                <a:ea typeface="Mukta"/>
                <a:cs typeface="Mukta"/>
                <a:sym typeface="Mukta"/>
              </a:rPr>
              <a:t>गहिराइ र घनत्वको प्रभाव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6724650" y="2529036"/>
            <a:ext cx="473059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369A1"/>
                </a:solidFill>
                <a:latin typeface="Mukta"/>
                <a:ea typeface="Mukta"/>
                <a:cs typeface="Mukta"/>
                <a:sym typeface="Mukta"/>
              </a:rPr>
              <a:t>दिशा र सतहको नियम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1171575" y="2589133"/>
            <a:ext cx="762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•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1247775" y="2587228"/>
            <a:ext cx="42195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तरल पदार्थको चाप यसको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गहिराइ</a:t>
            </a: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 बढ्दा बढ्छ र घट्दा घट्छ। (P ∝ h)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1171575" y="3463349"/>
            <a:ext cx="762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•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1247775" y="3461444"/>
            <a:ext cx="42195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तरल पदार्थको चाप त्यसको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घनत्व</a:t>
            </a: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 सँग समानुपातिक हुन्छ। (P ∝ d)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1171575" y="4337565"/>
            <a:ext cx="762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•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1247775" y="4335660"/>
            <a:ext cx="4219575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यसै कारणले गर्दा शुद्ध पानी भन्दा नुनिलो पानी (समुन्द्रको पानी) को चाप बढी हुन्छ किनकि नुनिलो पानीको घनत्व धेरै हुन्छ।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6934200" y="3026241"/>
            <a:ext cx="762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•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7010400" y="3024336"/>
            <a:ext cx="42195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स्थिर अवस्थामा रहेको तरल पदार्थले सबै दिशामा (तल, माथि, दायाँ, बायाँ)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बराबर चाप</a:t>
            </a: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 दिन्छ।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934200" y="3900457"/>
            <a:ext cx="762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•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7010400" y="3898552"/>
            <a:ext cx="4219575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कुनै पनि आकारको भाँडोमा रहेको तरल पदार्थले आफ्नो सतह आफैं मिलाउँछ। यसको सतह सधैं समतल (Horizontal) हुन्छ।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284C7"/>
                </a:solidFill>
                <a:latin typeface="Mukta"/>
                <a:ea typeface="Mukta"/>
                <a:cs typeface="Mukta"/>
                <a:sym typeface="Mukta"/>
              </a:rPr>
              <a:t>तरल पदार्थको चापका नियमहरू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/>
          <p:nvPr/>
        </p:nvSpPr>
        <p:spPr>
          <a:xfrm>
            <a:off x="5381625" y="2709862"/>
            <a:ext cx="1428750" cy="571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868944" y="3052762"/>
            <a:ext cx="10453962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75" u="none" cap="none" strike="noStrike">
                <a:solidFill>
                  <a:srgbClr val="F8FAFC"/>
                </a:solidFill>
                <a:latin typeface="Mukta"/>
                <a:ea typeface="Mukta"/>
                <a:cs typeface="Mukta"/>
                <a:sym typeface="Mukta"/>
              </a:rPr>
              <a:t>खण्ड २: पास्कलको नियम (Pascal's Law)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3159025" y="3976687"/>
            <a:ext cx="58739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CBD5E1"/>
                </a:solidFill>
                <a:latin typeface="Mukta"/>
                <a:ea typeface="Mukta"/>
                <a:cs typeface="Mukta"/>
                <a:sym typeface="Mukta"/>
              </a:rPr>
              <a:t>बन्द भाँडोमा तरल पदार्थले चाप प्रसारण गर्ने वैज्ञानिक सिद्धान्त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/>
        </p:nvSpPr>
        <p:spPr>
          <a:xfrm>
            <a:off x="1971675" y="2425154"/>
            <a:ext cx="8248650" cy="2102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50" u="none" cap="none" strike="noStrike">
                <a:solidFill>
                  <a:srgbClr val="0F172A"/>
                </a:solidFill>
                <a:latin typeface="Mukta SemiBold"/>
                <a:ea typeface="Mukta SemiBold"/>
                <a:cs typeface="Mukta SemiBold"/>
                <a:sym typeface="Mukta SemiBold"/>
              </a:rPr>
              <a:t>"बन्द भाँडोमा रहेको तरल पदार्थको कुनै एक भागमा चाप दिंदा, त्यति नै चाप सबैतिर लम्ब रूपमा बराबर प्रसारण हुन्छ।"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4282380" y="4909095"/>
            <a:ext cx="362709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250" u="none" cap="none" strike="noStrike">
                <a:solidFill>
                  <a:srgbClr val="0284C7"/>
                </a:solidFill>
                <a:latin typeface="Mukta"/>
                <a:ea typeface="Mukta"/>
                <a:cs typeface="Mukta"/>
                <a:sym typeface="Mukta"/>
              </a:rPr>
              <a:t>— ब्लेज पास्कल (Blaise Pascal)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1114425" y="2901404"/>
            <a:ext cx="740419" cy="1533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0" u="none" cap="none" strike="noStrike">
                <a:solidFill>
                  <a:srgbClr val="BAE6FD"/>
                </a:solidFill>
                <a:latin typeface="Geo"/>
                <a:ea typeface="Geo"/>
                <a:cs typeface="Geo"/>
                <a:sym typeface="Geo"/>
              </a:rPr>
              <a:t>"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10337158" y="4718593"/>
            <a:ext cx="740419" cy="1533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0" u="none" cap="none" strike="noStrike">
                <a:solidFill>
                  <a:srgbClr val="BAE6FD"/>
                </a:solidFill>
                <a:latin typeface="Geo"/>
                <a:ea typeface="Geo"/>
                <a:cs typeface="Geo"/>
                <a:sym typeface="Geo"/>
              </a:rPr>
              <a:t>"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1" name="Google Shape;17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2881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 txBox="1"/>
          <p:nvPr/>
        </p:nvSpPr>
        <p:spPr>
          <a:xfrm>
            <a:off x="571500" y="1928812"/>
            <a:ext cx="5286375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पास्कलको नियममा आधारित उपकरणलाई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हाइड्रोलिक मेसिन</a:t>
            </a: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 भनिन्छ। यसले थोरै बल लगाएर धेरै तौल उचाल्न मद्दत गर्छ, त्यसैले यसलाई Force Multiplier पनि भनिन्छ।</a:t>
            </a:r>
            <a:endParaRPr/>
          </a:p>
        </p:txBody>
      </p:sp>
      <p:pic>
        <p:nvPicPr>
          <p:cNvPr descr="image.png" id="174" name="Google Shape;17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76004"/>
            <a:ext cx="1855142" cy="485477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781050" y="3953887"/>
            <a:ext cx="762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•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857250" y="3951982"/>
            <a:ext cx="5000625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यदि ठूलो पिस्टनको क्षेत्रफल ($A_2$), सानो पिस्टनको क्षेत्रफल ($A_1$) भन्दा १०० गुणा बढी छ भने, उत्पादन हुने बल ($F_2$) पनि १०० गुणा नै बढी हुन्छ।</a:t>
            </a:r>
            <a:endParaRPr/>
          </a:p>
        </p:txBody>
      </p:sp>
      <p:pic>
        <p:nvPicPr>
          <p:cNvPr descr="image.png" id="177" name="Google Shape;17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192881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284C7"/>
                </a:solidFill>
                <a:latin typeface="Mukta"/>
                <a:ea typeface="Mukta"/>
                <a:cs typeface="Mukta"/>
                <a:sym typeface="Mukta"/>
              </a:rPr>
              <a:t>हाइड्रोलिक मेसिन र बलको गुणन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68996"/>
            <a:ext cx="3429000" cy="37296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1968996"/>
            <a:ext cx="3429000" cy="37296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1968996"/>
            <a:ext cx="3429000" cy="3729632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1"/>
          <p:cNvSpPr txBox="1"/>
          <p:nvPr/>
        </p:nvSpPr>
        <p:spPr>
          <a:xfrm>
            <a:off x="1576383" y="3207246"/>
            <a:ext cx="141908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369A1"/>
                </a:solidFill>
                <a:latin typeface="Mukta"/>
                <a:ea typeface="Mukta"/>
                <a:cs typeface="Mukta"/>
                <a:sym typeface="Mukta"/>
              </a:rPr>
              <a:t>ग्यारेज लिफ्ट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866775" y="3702546"/>
            <a:ext cx="2838450" cy="1462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गाडीको सर्भिसिङ सेन्टरहरूमा गह्रौं गाडीहरूलाई सानो मोटरको सहायताले थोरै बल लगाएर सजिलै माथि उचाल्न यसको प्रयोग गरिन्छ।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5286371" y="3207246"/>
            <a:ext cx="1619108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369A1"/>
                </a:solidFill>
                <a:latin typeface="Mukta"/>
                <a:ea typeface="Mukta"/>
                <a:cs typeface="Mukta"/>
                <a:sym typeface="Mukta"/>
              </a:rPr>
              <a:t>हाइड्रोलिक प्रेस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4676775" y="3702546"/>
            <a:ext cx="2838450" cy="1462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कपास, कागज आदि खाँद्न, बिउबाट तेल निकाल्न र उद्योगहरूमा धातुका बाक्ला पाताहरूलाई विभिन्न आकार दिन प्रयोग हुन्छ।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9076368" y="3207246"/>
            <a:ext cx="165911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369A1"/>
                </a:solidFill>
                <a:latin typeface="Mukta"/>
                <a:ea typeface="Mukta"/>
                <a:cs typeface="Mukta"/>
                <a:sym typeface="Mukta"/>
              </a:rPr>
              <a:t>हाइड्रोलिक ब्रेक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8486775" y="3702546"/>
            <a:ext cx="2838450" cy="1462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आधुनिक गाडीहरूमा चालकले थोरै बल लगाएर गाडीका चारै पाङ्ग्रामा एकैपटक समान बलका साथ ब्रेक लगाउन यसको प्रयोग गरिन्छ।</a:t>
            </a:r>
            <a:endParaRPr/>
          </a:p>
        </p:txBody>
      </p:sp>
      <p:pic>
        <p:nvPicPr>
          <p:cNvPr descr="image.png" id="193" name="Google Shape;193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57387" y="2388096"/>
            <a:ext cx="65722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34062" y="2388096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77387" y="2388096"/>
            <a:ext cx="65722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284C7"/>
                </a:solidFill>
                <a:latin typeface="Mukta"/>
                <a:ea typeface="Mukta"/>
                <a:cs typeface="Mukta"/>
                <a:sym typeface="Mukta"/>
              </a:rPr>
              <a:t>पास्कलको नियमका व्यावहारिक प्रयोगहरू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2"/>
          <p:cNvSpPr/>
          <p:nvPr/>
        </p:nvSpPr>
        <p:spPr>
          <a:xfrm>
            <a:off x="5381625" y="2709862"/>
            <a:ext cx="1428750" cy="571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2"/>
          <p:cNvSpPr txBox="1"/>
          <p:nvPr/>
        </p:nvSpPr>
        <p:spPr>
          <a:xfrm>
            <a:off x="1200548" y="3052762"/>
            <a:ext cx="9790754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75" u="none" cap="none" strike="noStrike">
                <a:solidFill>
                  <a:srgbClr val="F8FAFC"/>
                </a:solidFill>
                <a:latin typeface="Mukta"/>
                <a:ea typeface="Mukta"/>
                <a:cs typeface="Mukta"/>
                <a:sym typeface="Mukta"/>
              </a:rPr>
              <a:t>खण्ड ३: उर्ध्वचाप र आर्किमिडिजको सिद्धान्त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2714476" y="3976687"/>
            <a:ext cx="676289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CBD5E1"/>
                </a:solidFill>
                <a:latin typeface="Mukta"/>
                <a:ea typeface="Mukta"/>
                <a:cs typeface="Mukta"/>
                <a:sym typeface="Mukta"/>
              </a:rPr>
              <a:t>तरल पदार्थले दिने माथितिरको बल र वस्तु तैरिने नियमहरूको अध्ययन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88714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3"/>
          <p:cNvSpPr txBox="1"/>
          <p:nvPr/>
        </p:nvSpPr>
        <p:spPr>
          <a:xfrm>
            <a:off x="571500" y="1887140"/>
            <a:ext cx="52863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कुनै वस्तुलाई तरल पदार्थमा आंशिक वा पूर्ण रूपमा डुबाउँदा, तरल पदार्थले उक्त वस्तुलाई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माथितिर धकेल्ने बललाई</a:t>
            </a: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 उर्ध्वचाप भनिन्छ।</a:t>
            </a:r>
            <a:endParaRPr/>
          </a:p>
        </p:txBody>
      </p:sp>
      <p:pic>
        <p:nvPicPr>
          <p:cNvPr descr="image.png" id="212" name="Google Shape;21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942332"/>
            <a:ext cx="1222176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3"/>
          <p:cNvSpPr txBox="1"/>
          <p:nvPr/>
        </p:nvSpPr>
        <p:spPr>
          <a:xfrm>
            <a:off x="781050" y="3525262"/>
            <a:ext cx="762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•</a:t>
            </a:r>
            <a:endParaRPr/>
          </a:p>
        </p:txBody>
      </p:sp>
      <p:sp>
        <p:nvSpPr>
          <p:cNvPr id="214" name="Google Shape;214;p23"/>
          <p:cNvSpPr txBox="1"/>
          <p:nvPr/>
        </p:nvSpPr>
        <p:spPr>
          <a:xfrm>
            <a:off x="857250" y="3523357"/>
            <a:ext cx="50006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V</a:t>
            </a: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 = डुबेको वस्तुको आयतन,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d</a:t>
            </a: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 = तरलको घनत्व।</a:t>
            </a:r>
            <a:endParaRPr/>
          </a:p>
        </p:txBody>
      </p:sp>
      <p:sp>
        <p:nvSpPr>
          <p:cNvPr id="215" name="Google Shape;215;p23"/>
          <p:cNvSpPr txBox="1"/>
          <p:nvPr/>
        </p:nvSpPr>
        <p:spPr>
          <a:xfrm>
            <a:off x="781050" y="4033807"/>
            <a:ext cx="762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•</a:t>
            </a:r>
            <a:endParaRPr/>
          </a:p>
        </p:txBody>
      </p:sp>
      <p:sp>
        <p:nvSpPr>
          <p:cNvPr id="216" name="Google Shape;216;p23"/>
          <p:cNvSpPr txBox="1"/>
          <p:nvPr/>
        </p:nvSpPr>
        <p:spPr>
          <a:xfrm>
            <a:off x="857250" y="4031902"/>
            <a:ext cx="500062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यही बलका कारण पानीमा ढुङ्गा उचाल्न सजिलो हुन्छ अर्थात् वस्तुको तौल घटेको महसुस हुन्छ।</a:t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781050" y="4908024"/>
            <a:ext cx="762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•</a:t>
            </a:r>
            <a:endParaRPr/>
          </a:p>
        </p:txBody>
      </p:sp>
      <p:sp>
        <p:nvSpPr>
          <p:cNvPr id="218" name="Google Shape;218;p23"/>
          <p:cNvSpPr txBox="1"/>
          <p:nvPr/>
        </p:nvSpPr>
        <p:spPr>
          <a:xfrm>
            <a:off x="857250" y="4906119"/>
            <a:ext cx="500062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हावामा वस्तुको तौल र पानीमा वस्तुको तौलबीचको फरक नै उर्ध्वचाप (U) हो।</a:t>
            </a:r>
            <a:endParaRPr/>
          </a:p>
        </p:txBody>
      </p:sp>
      <p:pic>
        <p:nvPicPr>
          <p:cNvPr descr="image.png" id="219" name="Google Shape;21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188714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3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284C7"/>
                </a:solidFill>
                <a:latin typeface="Mukta"/>
                <a:ea typeface="Mukta"/>
                <a:cs typeface="Mukta"/>
                <a:sym typeface="Mukta"/>
              </a:rPr>
              <a:t>उर्ध्वचाप (Upthrust / Buoyancy)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04379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4"/>
          <p:cNvSpPr txBox="1"/>
          <p:nvPr/>
        </p:nvSpPr>
        <p:spPr>
          <a:xfrm>
            <a:off x="571500" y="1704379"/>
            <a:ext cx="52863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ग्रीक वैज्ञानिक आर्किमिडिजले प्रतिपादन गरेको यस सिद्धान्त अनुसार:</a:t>
            </a:r>
            <a:endParaRPr/>
          </a:p>
        </p:txBody>
      </p:sp>
      <p:sp>
        <p:nvSpPr>
          <p:cNvPr id="228" name="Google Shape;228;p24"/>
          <p:cNvSpPr txBox="1"/>
          <p:nvPr/>
        </p:nvSpPr>
        <p:spPr>
          <a:xfrm>
            <a:off x="571500" y="2212925"/>
            <a:ext cx="5286375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"कुनै वस्तुलाई तरल पदार्थमा पूर्ण वा आंशिक रूपमा डुबाउँदा, त्यस वस्तुले विस्थापित गरेको तरल पदार्थको तौल बराबरको उर्ध्वचाप तरल पदार्थले उक्त वस्तुमा दिन्छ।"</a:t>
            </a:r>
            <a:endParaRPr/>
          </a:p>
        </p:txBody>
      </p:sp>
      <p:pic>
        <p:nvPicPr>
          <p:cNvPr descr="image.png" id="229" name="Google Shape;22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52837"/>
            <a:ext cx="1941611" cy="354806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4"/>
          <p:cNvSpPr txBox="1"/>
          <p:nvPr/>
        </p:nvSpPr>
        <p:spPr>
          <a:xfrm>
            <a:off x="781050" y="4216717"/>
            <a:ext cx="762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•</a:t>
            </a:r>
            <a:endParaRPr/>
          </a:p>
        </p:txBody>
      </p:sp>
      <p:sp>
        <p:nvSpPr>
          <p:cNvPr id="231" name="Google Shape;231;p24"/>
          <p:cNvSpPr txBox="1"/>
          <p:nvPr/>
        </p:nvSpPr>
        <p:spPr>
          <a:xfrm>
            <a:off x="857250" y="4214812"/>
            <a:ext cx="500062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विस्थापित तरलको तौल = हावामा वस्तुको तौल - तरलमा वस्तुको तौल।</a:t>
            </a:r>
            <a:endParaRPr/>
          </a:p>
        </p:txBody>
      </p:sp>
      <p:sp>
        <p:nvSpPr>
          <p:cNvPr id="232" name="Google Shape;232;p24"/>
          <p:cNvSpPr txBox="1"/>
          <p:nvPr/>
        </p:nvSpPr>
        <p:spPr>
          <a:xfrm>
            <a:off x="781050" y="5090933"/>
            <a:ext cx="762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•</a:t>
            </a:r>
            <a:endParaRPr/>
          </a:p>
        </p:txBody>
      </p:sp>
      <p:sp>
        <p:nvSpPr>
          <p:cNvPr id="233" name="Google Shape;233;p24"/>
          <p:cNvSpPr txBox="1"/>
          <p:nvPr/>
        </p:nvSpPr>
        <p:spPr>
          <a:xfrm>
            <a:off x="857250" y="5089028"/>
            <a:ext cx="500062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यस सिद्धान्तको आधारमा पानीजहाज (Ships) र पनडुब्बी (Submarines) हरू निर्माण गरिन्छन्।</a:t>
            </a:r>
            <a:endParaRPr/>
          </a:p>
        </p:txBody>
      </p:sp>
      <p:pic>
        <p:nvPicPr>
          <p:cNvPr descr="image.png" id="234" name="Google Shape;234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1704379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284C7"/>
                </a:solidFill>
                <a:latin typeface="Mukta"/>
                <a:ea typeface="Mukta"/>
                <a:cs typeface="Mukta"/>
                <a:sym typeface="Mukta"/>
              </a:rPr>
              <a:t>आर्किमिडिजको सिद्धान्त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0" name="Google Shape;24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67073"/>
            <a:ext cx="5286375" cy="35333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67073"/>
            <a:ext cx="5286375" cy="3533328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5"/>
          <p:cNvSpPr txBox="1"/>
          <p:nvPr/>
        </p:nvSpPr>
        <p:spPr>
          <a:xfrm>
            <a:off x="962025" y="2457598"/>
            <a:ext cx="473059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369A1"/>
                </a:solidFill>
                <a:latin typeface="Mukta"/>
                <a:ea typeface="Mukta"/>
                <a:cs typeface="Mukta"/>
                <a:sym typeface="Mukta"/>
              </a:rPr>
              <a:t>नियमको परिभाषा</a:t>
            </a:r>
            <a:endParaRPr/>
          </a:p>
        </p:txBody>
      </p:sp>
      <p:sp>
        <p:nvSpPr>
          <p:cNvPr id="244" name="Google Shape;244;p25"/>
          <p:cNvSpPr txBox="1"/>
          <p:nvPr/>
        </p:nvSpPr>
        <p:spPr>
          <a:xfrm>
            <a:off x="962025" y="2952898"/>
            <a:ext cx="45053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प्लवनको नियम अनुसार:</a:t>
            </a:r>
            <a:endParaRPr/>
          </a:p>
        </p:txBody>
      </p:sp>
      <p:sp>
        <p:nvSpPr>
          <p:cNvPr id="245" name="Google Shape;245;p25"/>
          <p:cNvSpPr txBox="1"/>
          <p:nvPr/>
        </p:nvSpPr>
        <p:spPr>
          <a:xfrm>
            <a:off x="962025" y="3461444"/>
            <a:ext cx="450532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"तरल पदार्थमा उत्रने वस्तुले आफ्नो तौल बराबरको तरल पदार्थ विस्थापित गर्छ।"</a:t>
            </a:r>
            <a:endParaRPr/>
          </a:p>
        </p:txBody>
      </p:sp>
      <p:sp>
        <p:nvSpPr>
          <p:cNvPr id="246" name="Google Shape;246;p25"/>
          <p:cNvSpPr txBox="1"/>
          <p:nvPr/>
        </p:nvSpPr>
        <p:spPr>
          <a:xfrm>
            <a:off x="6724650" y="2529036"/>
            <a:ext cx="473059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369A1"/>
                </a:solidFill>
                <a:latin typeface="Mukta"/>
                <a:ea typeface="Mukta"/>
                <a:cs typeface="Mukta"/>
                <a:sym typeface="Mukta"/>
              </a:rPr>
              <a:t>उत्रँदाको अवस्था</a:t>
            </a:r>
            <a:endParaRPr/>
          </a:p>
        </p:txBody>
      </p:sp>
      <p:sp>
        <p:nvSpPr>
          <p:cNvPr id="247" name="Google Shape;247;p25"/>
          <p:cNvSpPr txBox="1"/>
          <p:nvPr/>
        </p:nvSpPr>
        <p:spPr>
          <a:xfrm>
            <a:off x="1171575" y="4337565"/>
            <a:ext cx="762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•</a:t>
            </a:r>
            <a:endParaRPr/>
          </a:p>
        </p:txBody>
      </p:sp>
      <p:sp>
        <p:nvSpPr>
          <p:cNvPr id="248" name="Google Shape;248;p25"/>
          <p:cNvSpPr txBox="1"/>
          <p:nvPr/>
        </p:nvSpPr>
        <p:spPr>
          <a:xfrm>
            <a:off x="1247775" y="4335660"/>
            <a:ext cx="42195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यस अवस्थामा, वस्तुको जम्मा तौल (W) र तरलले दिने उर्ध्वचाप (U) ठ्याक्कै बराबर हुन्छ। (W = U)</a:t>
            </a:r>
            <a:endParaRPr/>
          </a:p>
        </p:txBody>
      </p:sp>
      <p:sp>
        <p:nvSpPr>
          <p:cNvPr id="249" name="Google Shape;249;p25"/>
          <p:cNvSpPr txBox="1"/>
          <p:nvPr/>
        </p:nvSpPr>
        <p:spPr>
          <a:xfrm>
            <a:off x="6934200" y="3026241"/>
            <a:ext cx="762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•</a:t>
            </a:r>
            <a:endParaRPr/>
          </a:p>
        </p:txBody>
      </p:sp>
      <p:sp>
        <p:nvSpPr>
          <p:cNvPr id="250" name="Google Shape;250;p25"/>
          <p:cNvSpPr txBox="1"/>
          <p:nvPr/>
        </p:nvSpPr>
        <p:spPr>
          <a:xfrm>
            <a:off x="7010400" y="3024336"/>
            <a:ext cx="4219575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जब वस्तु तरल पदार्थमा उत्रन्छ, तरल पदार्थ भित्र यसको देखिने तौल (Apparent weight) शून्य हुन्छ।</a:t>
            </a:r>
            <a:endParaRPr/>
          </a:p>
        </p:txBody>
      </p:sp>
      <p:sp>
        <p:nvSpPr>
          <p:cNvPr id="251" name="Google Shape;251;p25"/>
          <p:cNvSpPr txBox="1"/>
          <p:nvPr/>
        </p:nvSpPr>
        <p:spPr>
          <a:xfrm>
            <a:off x="6934200" y="4266128"/>
            <a:ext cx="762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•</a:t>
            </a:r>
            <a:endParaRPr/>
          </a:p>
        </p:txBody>
      </p:sp>
      <p:sp>
        <p:nvSpPr>
          <p:cNvPr id="252" name="Google Shape;252;p25"/>
          <p:cNvSpPr txBox="1"/>
          <p:nvPr/>
        </p:nvSpPr>
        <p:spPr>
          <a:xfrm>
            <a:off x="7010400" y="4264223"/>
            <a:ext cx="42195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यो नियम आर्किमिडिजको सिद्धान्तकै एउटा विशेष अवस्था हो जुन तैरिने वस्तुहरूमा लागू हुन्छ।</a:t>
            </a:r>
            <a:endParaRPr/>
          </a:p>
        </p:txBody>
      </p:sp>
      <p:sp>
        <p:nvSpPr>
          <p:cNvPr id="253" name="Google Shape;253;p25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284C7"/>
                </a:solidFill>
                <a:latin typeface="Mukta"/>
                <a:ea typeface="Mukta"/>
                <a:cs typeface="Mukta"/>
                <a:sym typeface="Mukta"/>
              </a:rPr>
              <a:t>प्लवनको नियम (Law of Floatation)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8" name="Google Shape;2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09712"/>
            <a:ext cx="3429000" cy="4648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1509712"/>
            <a:ext cx="3429000" cy="4648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1509712"/>
            <a:ext cx="3429000" cy="4648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1757362"/>
            <a:ext cx="2933700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29150" y="1757362"/>
            <a:ext cx="2933700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39150" y="1757362"/>
            <a:ext cx="2933700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6"/>
          <p:cNvSpPr txBox="1"/>
          <p:nvPr/>
        </p:nvSpPr>
        <p:spPr>
          <a:xfrm>
            <a:off x="745807" y="4090987"/>
            <a:ext cx="308038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369A1"/>
                </a:solidFill>
                <a:latin typeface="Mukta"/>
                <a:ea typeface="Mukta"/>
                <a:cs typeface="Mukta"/>
                <a:sym typeface="Mukta"/>
              </a:rPr>
              <a:t>वस्तु पूर्ण रूपमा डुब्ने</a:t>
            </a:r>
            <a:endParaRPr/>
          </a:p>
        </p:txBody>
      </p:sp>
      <p:sp>
        <p:nvSpPr>
          <p:cNvPr id="266" name="Google Shape;266;p26"/>
          <p:cNvSpPr txBox="1"/>
          <p:nvPr/>
        </p:nvSpPr>
        <p:spPr>
          <a:xfrm>
            <a:off x="819150" y="4548187"/>
            <a:ext cx="2933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वस्तुको घनत्व &gt; तरलको घनत्व। यस अवस्थामा वस्तुको तौल उर्ध्वचाप भन्दा बढी (W &gt; U) हुन्छ र वस्तु पिंधमा पुग्छ।</a:t>
            </a:r>
            <a:endParaRPr/>
          </a:p>
        </p:txBody>
      </p:sp>
      <p:sp>
        <p:nvSpPr>
          <p:cNvPr id="267" name="Google Shape;267;p26"/>
          <p:cNvSpPr txBox="1"/>
          <p:nvPr/>
        </p:nvSpPr>
        <p:spPr>
          <a:xfrm>
            <a:off x="4555807" y="4090987"/>
            <a:ext cx="308038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369A1"/>
                </a:solidFill>
                <a:latin typeface="Mukta"/>
                <a:ea typeface="Mukta"/>
                <a:cs typeface="Mukta"/>
                <a:sym typeface="Mukta"/>
              </a:rPr>
              <a:t>डुबेर उत्रने</a:t>
            </a:r>
            <a:endParaRPr/>
          </a:p>
        </p:txBody>
      </p:sp>
      <p:sp>
        <p:nvSpPr>
          <p:cNvPr id="268" name="Google Shape;268;p26"/>
          <p:cNvSpPr txBox="1"/>
          <p:nvPr/>
        </p:nvSpPr>
        <p:spPr>
          <a:xfrm>
            <a:off x="4629150" y="4548187"/>
            <a:ext cx="29337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वस्तुको घनत्व = तरलको घनत्व। वस्तुको तौल र उर्ध्वचाप बराबर (W = U) हुन्छ। वस्तु तरल भित्र जहाँ राख्यो त्यहीँ तैरिन सक्छ।</a:t>
            </a:r>
            <a:endParaRPr/>
          </a:p>
        </p:txBody>
      </p:sp>
      <p:sp>
        <p:nvSpPr>
          <p:cNvPr id="269" name="Google Shape;269;p26"/>
          <p:cNvSpPr txBox="1"/>
          <p:nvPr/>
        </p:nvSpPr>
        <p:spPr>
          <a:xfrm>
            <a:off x="8365807" y="4090987"/>
            <a:ext cx="308038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369A1"/>
                </a:solidFill>
                <a:latin typeface="Mukta"/>
                <a:ea typeface="Mukta"/>
                <a:cs typeface="Mukta"/>
                <a:sym typeface="Mukta"/>
              </a:rPr>
              <a:t>सतहमा उत्रने</a:t>
            </a:r>
            <a:endParaRPr/>
          </a:p>
        </p:txBody>
      </p:sp>
      <p:sp>
        <p:nvSpPr>
          <p:cNvPr id="270" name="Google Shape;270;p26"/>
          <p:cNvSpPr txBox="1"/>
          <p:nvPr/>
        </p:nvSpPr>
        <p:spPr>
          <a:xfrm>
            <a:off x="8439150" y="4548187"/>
            <a:ext cx="2933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वस्तुको घनत्व &lt; तरलको घनत्व। वस्तुले आफ्नो तौल बराबरको तरल विस्थापित गर्छ र आंशिक डुबेर सतहमा उत्रन्छ।</a:t>
            </a:r>
            <a:endParaRPr/>
          </a:p>
        </p:txBody>
      </p:sp>
      <p:pic>
        <p:nvPicPr>
          <p:cNvPr descr="image.png" id="271" name="Google Shape;271;p2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28675" y="1766887"/>
            <a:ext cx="2914650" cy="2076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2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638675" y="1766887"/>
            <a:ext cx="2914650" cy="2076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2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48675" y="1766887"/>
            <a:ext cx="271923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6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284C7"/>
                </a:solidFill>
                <a:latin typeface="Mukta"/>
                <a:ea typeface="Mukta"/>
                <a:cs typeface="Mukta"/>
                <a:sym typeface="Mukta"/>
              </a:rPr>
              <a:t>वस्तु डुब्ने र उत्रने अवस्थाहरू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9" name="Google Shape;27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7"/>
          <p:cNvSpPr/>
          <p:nvPr/>
        </p:nvSpPr>
        <p:spPr>
          <a:xfrm>
            <a:off x="5381625" y="2709862"/>
            <a:ext cx="1428750" cy="571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7"/>
          <p:cNvSpPr txBox="1"/>
          <p:nvPr/>
        </p:nvSpPr>
        <p:spPr>
          <a:xfrm>
            <a:off x="1515587" y="3052762"/>
            <a:ext cx="9160676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75" u="none" cap="none" strike="noStrike">
                <a:solidFill>
                  <a:srgbClr val="F8FAFC"/>
                </a:solidFill>
                <a:latin typeface="Mukta"/>
                <a:ea typeface="Mukta"/>
                <a:cs typeface="Mukta"/>
                <a:sym typeface="Mukta"/>
              </a:rPr>
              <a:t>खण्ड ४: वायुमण्डलीय चाप र उपकरणहरू</a:t>
            </a:r>
            <a:endParaRPr/>
          </a:p>
        </p:txBody>
      </p:sp>
      <p:sp>
        <p:nvSpPr>
          <p:cNvPr id="282" name="Google Shape;282;p27"/>
          <p:cNvSpPr txBox="1"/>
          <p:nvPr/>
        </p:nvSpPr>
        <p:spPr>
          <a:xfrm>
            <a:off x="2976413" y="3976687"/>
            <a:ext cx="623902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CBD5E1"/>
                </a:solidFill>
                <a:latin typeface="Mukta"/>
                <a:ea typeface="Mukta"/>
                <a:cs typeface="Mukta"/>
                <a:sym typeface="Mukta"/>
              </a:rPr>
              <a:t>हावाको तौलले दिने चाप र दैनिक जीवनमा प्रयोग हुने उपकरणहरू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7" name="Google Shape;28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2881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 txBox="1"/>
          <p:nvPr/>
        </p:nvSpPr>
        <p:spPr>
          <a:xfrm>
            <a:off x="571500" y="1928812"/>
            <a:ext cx="52863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पृथ्वीको वरिपरि रहेको हावाको तह (वायुमण्डल) को तौलले पृथ्वीको सतहमा दिने चापलाई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वायुमण्डलीय चाप</a:t>
            </a: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 भनिन्छ।</a:t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781050" y="2804933"/>
            <a:ext cx="762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•</a:t>
            </a:r>
            <a:endParaRPr/>
          </a:p>
        </p:txBody>
      </p:sp>
      <p:sp>
        <p:nvSpPr>
          <p:cNvPr id="291" name="Google Shape;291;p28"/>
          <p:cNvSpPr txBox="1"/>
          <p:nvPr/>
        </p:nvSpPr>
        <p:spPr>
          <a:xfrm>
            <a:off x="857250" y="2803028"/>
            <a:ext cx="500062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समुद्री सतहमा वायुमण्डलीय चापको सामान्य मान ७६० मि.मि. पारो (760 mm of Hg) वा $1.013 \times 10^5 Pa$ हुन्छ।</a:t>
            </a:r>
            <a:endParaRPr/>
          </a:p>
        </p:txBody>
      </p:sp>
      <p:sp>
        <p:nvSpPr>
          <p:cNvPr id="292" name="Google Shape;292;p28"/>
          <p:cNvSpPr txBox="1"/>
          <p:nvPr/>
        </p:nvSpPr>
        <p:spPr>
          <a:xfrm>
            <a:off x="781050" y="3679150"/>
            <a:ext cx="762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•</a:t>
            </a:r>
            <a:endParaRPr/>
          </a:p>
        </p:txBody>
      </p:sp>
      <p:sp>
        <p:nvSpPr>
          <p:cNvPr id="293" name="Google Shape;293;p28"/>
          <p:cNvSpPr txBox="1"/>
          <p:nvPr/>
        </p:nvSpPr>
        <p:spPr>
          <a:xfrm>
            <a:off x="857250" y="3677245"/>
            <a:ext cx="500062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उचाइ बढ्दै जाँदा हावाको घनत्व घट्ने भएकोले वायुमण्डलीय चाप पनि घट्दै जान्छ।</a:t>
            </a:r>
            <a:endParaRPr/>
          </a:p>
        </p:txBody>
      </p:sp>
      <p:sp>
        <p:nvSpPr>
          <p:cNvPr id="294" name="Google Shape;294;p28"/>
          <p:cNvSpPr txBox="1"/>
          <p:nvPr/>
        </p:nvSpPr>
        <p:spPr>
          <a:xfrm>
            <a:off x="781050" y="4553366"/>
            <a:ext cx="762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•</a:t>
            </a:r>
            <a:endParaRPr/>
          </a:p>
        </p:txBody>
      </p:sp>
      <p:sp>
        <p:nvSpPr>
          <p:cNvPr id="295" name="Google Shape;295;p28"/>
          <p:cNvSpPr txBox="1"/>
          <p:nvPr/>
        </p:nvSpPr>
        <p:spPr>
          <a:xfrm>
            <a:off x="857250" y="4551461"/>
            <a:ext cx="50006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यसलाई नाप्ने उपकरणलाई ब्यारोमिटर (Barometer) भनिन्छ।</a:t>
            </a:r>
            <a:endParaRPr/>
          </a:p>
        </p:txBody>
      </p:sp>
      <p:pic>
        <p:nvPicPr>
          <p:cNvPr descr="image.png" id="296" name="Google Shape;296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2881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8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284C7"/>
                </a:solidFill>
                <a:latin typeface="Mukta"/>
                <a:ea typeface="Mukta"/>
                <a:cs typeface="Mukta"/>
                <a:sym typeface="Mukta"/>
              </a:rPr>
              <a:t>वायुमण्डलीय चाप (Atmospheric Pressure)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2" name="Google Shape;30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3" name="Google Shape;30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68996"/>
            <a:ext cx="3429000" cy="37296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1968996"/>
            <a:ext cx="3429000" cy="37296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1968996"/>
            <a:ext cx="3429000" cy="3729632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9"/>
          <p:cNvSpPr txBox="1"/>
          <p:nvPr/>
        </p:nvSpPr>
        <p:spPr>
          <a:xfrm>
            <a:off x="1137891" y="3207246"/>
            <a:ext cx="2296068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369A1"/>
                </a:solidFill>
                <a:latin typeface="Mukta"/>
                <a:ea typeface="Mukta"/>
                <a:cs typeface="Mukta"/>
                <a:sym typeface="Mukta"/>
              </a:rPr>
              <a:t>सिरिन्ज (Syringe)</a:t>
            </a:r>
            <a:endParaRPr/>
          </a:p>
        </p:txBody>
      </p:sp>
      <p:sp>
        <p:nvSpPr>
          <p:cNvPr id="307" name="Google Shape;307;p29"/>
          <p:cNvSpPr txBox="1"/>
          <p:nvPr/>
        </p:nvSpPr>
        <p:spPr>
          <a:xfrm>
            <a:off x="866775" y="3702546"/>
            <a:ext cx="283845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पिस्टन तान्दा भित्र हावाको चाप घट्छ र बाहिरको बढी वायुमण्डलीय चापले तरल औषधि भित्र धकेल्छ।</a:t>
            </a:r>
            <a:endParaRPr/>
          </a:p>
        </p:txBody>
      </p:sp>
      <p:sp>
        <p:nvSpPr>
          <p:cNvPr id="308" name="Google Shape;308;p29"/>
          <p:cNvSpPr txBox="1"/>
          <p:nvPr/>
        </p:nvSpPr>
        <p:spPr>
          <a:xfrm>
            <a:off x="5357001" y="3207246"/>
            <a:ext cx="147799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369A1"/>
                </a:solidFill>
                <a:latin typeface="Mukta"/>
                <a:ea typeface="Mukta"/>
                <a:cs typeface="Mukta"/>
                <a:sym typeface="Mukta"/>
              </a:rPr>
              <a:t>पानी तान्ने पम्प</a:t>
            </a:r>
            <a:endParaRPr/>
          </a:p>
        </p:txBody>
      </p:sp>
      <p:sp>
        <p:nvSpPr>
          <p:cNvPr id="309" name="Google Shape;309;p29"/>
          <p:cNvSpPr txBox="1"/>
          <p:nvPr/>
        </p:nvSpPr>
        <p:spPr>
          <a:xfrm>
            <a:off x="4676775" y="3702546"/>
            <a:ext cx="2838450" cy="1462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भल्भ र पिस्टनको सहायताले पाइपभित्र भ्याकुम सिर्जना गरी बाहिरको वायुमण्डलीय चापको मद्दतले इनारबाट पानी तानिन्छ।</a:t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9212007" y="3207246"/>
            <a:ext cx="138798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369A1"/>
                </a:solidFill>
                <a:latin typeface="Mukta"/>
                <a:ea typeface="Mukta"/>
                <a:cs typeface="Mukta"/>
                <a:sym typeface="Mukta"/>
              </a:rPr>
              <a:t>हावा भर्ने पम्प</a:t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8486775" y="3702546"/>
            <a:ext cx="2838450" cy="1462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साइकल वा फुटबलमा हावा भर्न प्रयोग हुने पम्पले बाहिरको हावा तानेर पिस्टनको मद्दतले भित्र खाँदेर पठाउँछ।</a:t>
            </a:r>
            <a:endParaRPr/>
          </a:p>
        </p:txBody>
      </p:sp>
      <p:pic>
        <p:nvPicPr>
          <p:cNvPr descr="image.png" id="312" name="Google Shape;312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24062" y="2388096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3" name="Google Shape;313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34062" y="2388096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4" name="Google Shape;314;p2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77400" y="2388096"/>
            <a:ext cx="457200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9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284C7"/>
                </a:solidFill>
                <a:latin typeface="Mukta"/>
                <a:ea typeface="Mukta"/>
                <a:cs typeface="Mukta"/>
                <a:sym typeface="Mukta"/>
              </a:rPr>
              <a:t>वायुमण्डलीय चापमा आधारित उपकरणहरू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0" name="Google Shape;32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0"/>
          <p:cNvSpPr txBox="1"/>
          <p:nvPr/>
        </p:nvSpPr>
        <p:spPr>
          <a:xfrm>
            <a:off x="295275" y="2170807"/>
            <a:ext cx="1160145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F8FAFC"/>
                </a:solidFill>
                <a:latin typeface="Mukta"/>
                <a:ea typeface="Mukta"/>
                <a:cs typeface="Mukta"/>
                <a:sym typeface="Mukta"/>
              </a:rPr>
              <a:t>कुनै प्रश्नहरू?</a:t>
            </a:r>
            <a:endParaRPr/>
          </a:p>
        </p:txBody>
      </p:sp>
      <p:sp>
        <p:nvSpPr>
          <p:cNvPr id="322" name="Google Shape;322;p30"/>
          <p:cNvSpPr txBox="1"/>
          <p:nvPr/>
        </p:nvSpPr>
        <p:spPr>
          <a:xfrm>
            <a:off x="571500" y="3361432"/>
            <a:ext cx="110490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CBD5E1"/>
                </a:solidFill>
                <a:latin typeface="Mukta"/>
                <a:ea typeface="Mukta"/>
                <a:cs typeface="Mukta"/>
                <a:sym typeface="Mukta"/>
              </a:rPr>
              <a:t>कक्षा १० विज्ञान: एकाइ १० - चाप (Pressure) को विस्तृत अध्ययन पूरा भयो।</a:t>
            </a:r>
            <a:endParaRPr/>
          </a:p>
        </p:txBody>
      </p:sp>
      <p:sp>
        <p:nvSpPr>
          <p:cNvPr id="323" name="Google Shape;323;p30"/>
          <p:cNvSpPr txBox="1"/>
          <p:nvPr/>
        </p:nvSpPr>
        <p:spPr>
          <a:xfrm>
            <a:off x="571500" y="4420492"/>
            <a:ext cx="11049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Mukta"/>
                <a:ea typeface="Mukta"/>
                <a:cs typeface="Mukta"/>
                <a:sym typeface="Mukta"/>
              </a:rPr>
              <a:t>थप जानकारी र नबुझेका कुराहरूको लागि आफ्नो विज्ञान शिक्षकसँग छलफल गर्नुहोस्।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8" name="Google Shape;32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1"/>
          <p:cNvSpPr/>
          <p:nvPr/>
        </p:nvSpPr>
        <p:spPr>
          <a:xfrm>
            <a:off x="571500" y="1380380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1"/>
          <p:cNvSpPr/>
          <p:nvPr/>
        </p:nvSpPr>
        <p:spPr>
          <a:xfrm>
            <a:off x="571500" y="2165151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31"/>
          <p:cNvSpPr/>
          <p:nvPr/>
        </p:nvSpPr>
        <p:spPr>
          <a:xfrm>
            <a:off x="571500" y="2949922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31"/>
          <p:cNvSpPr/>
          <p:nvPr/>
        </p:nvSpPr>
        <p:spPr>
          <a:xfrm>
            <a:off x="571500" y="3932783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1"/>
          <p:cNvSpPr/>
          <p:nvPr/>
        </p:nvSpPr>
        <p:spPr>
          <a:xfrm>
            <a:off x="571500" y="4717553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31"/>
          <p:cNvSpPr/>
          <p:nvPr/>
        </p:nvSpPr>
        <p:spPr>
          <a:xfrm>
            <a:off x="571500" y="215562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1"/>
          <p:cNvSpPr/>
          <p:nvPr/>
        </p:nvSpPr>
        <p:spPr>
          <a:xfrm>
            <a:off x="571500" y="215562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31"/>
          <p:cNvSpPr/>
          <p:nvPr/>
        </p:nvSpPr>
        <p:spPr>
          <a:xfrm>
            <a:off x="571500" y="294039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1"/>
          <p:cNvSpPr/>
          <p:nvPr/>
        </p:nvSpPr>
        <p:spPr>
          <a:xfrm>
            <a:off x="571500" y="294039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1"/>
          <p:cNvSpPr/>
          <p:nvPr/>
        </p:nvSpPr>
        <p:spPr>
          <a:xfrm>
            <a:off x="571500" y="392325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1"/>
          <p:cNvSpPr/>
          <p:nvPr/>
        </p:nvSpPr>
        <p:spPr>
          <a:xfrm>
            <a:off x="571500" y="392325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1"/>
          <p:cNvSpPr/>
          <p:nvPr/>
        </p:nvSpPr>
        <p:spPr>
          <a:xfrm>
            <a:off x="571500" y="470802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1"/>
          <p:cNvSpPr/>
          <p:nvPr/>
        </p:nvSpPr>
        <p:spPr>
          <a:xfrm>
            <a:off x="571500" y="470802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31"/>
          <p:cNvSpPr/>
          <p:nvPr/>
        </p:nvSpPr>
        <p:spPr>
          <a:xfrm>
            <a:off x="571500" y="549279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1"/>
          <p:cNvSpPr/>
          <p:nvPr/>
        </p:nvSpPr>
        <p:spPr>
          <a:xfrm>
            <a:off x="571500" y="549279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44" name="Google Shape;34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2980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1"/>
          <p:cNvSpPr txBox="1"/>
          <p:nvPr/>
        </p:nvSpPr>
        <p:spPr>
          <a:xfrm>
            <a:off x="1666875" y="152325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https://study.com/cimages/multimages/16/pressure_force_area3689265780271039074.png</a:t>
            </a:r>
            <a:endParaRPr/>
          </a:p>
        </p:txBody>
      </p:sp>
      <p:sp>
        <p:nvSpPr>
          <p:cNvPr id="346" name="Google Shape;346;p31"/>
          <p:cNvSpPr txBox="1"/>
          <p:nvPr/>
        </p:nvSpPr>
        <p:spPr>
          <a:xfrm>
            <a:off x="1666875" y="176897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Mukta"/>
                <a:ea typeface="Mukta"/>
                <a:cs typeface="Mukta"/>
                <a:sym typeface="Mukta"/>
              </a:rPr>
              <a:t>study.com</a:t>
            </a:r>
            <a:endParaRPr/>
          </a:p>
        </p:txBody>
      </p:sp>
      <p:pic>
        <p:nvPicPr>
          <p:cNvPr descr="image.png" id="347" name="Google Shape;347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3145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1"/>
          <p:cNvSpPr txBox="1"/>
          <p:nvPr/>
        </p:nvSpPr>
        <p:spPr>
          <a:xfrm>
            <a:off x="1666875" y="230802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https://s3-us-west-2.amazonaws.com/courses-images-archive-read-only/wp-content/uploads/sites/222/2014/12/20103719/Figure_12_04_01a.jpg</a:t>
            </a:r>
            <a:endParaRPr/>
          </a:p>
        </p:txBody>
      </p:sp>
      <p:sp>
        <p:nvSpPr>
          <p:cNvPr id="349" name="Google Shape;349;p31"/>
          <p:cNvSpPr txBox="1"/>
          <p:nvPr/>
        </p:nvSpPr>
        <p:spPr>
          <a:xfrm>
            <a:off x="1666875" y="255374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Mukta"/>
                <a:ea typeface="Mukta"/>
                <a:cs typeface="Mukta"/>
                <a:sym typeface="Mukta"/>
              </a:rPr>
              <a:t>courses.lumenlearning.com</a:t>
            </a:r>
            <a:endParaRPr/>
          </a:p>
        </p:txBody>
      </p:sp>
      <p:pic>
        <p:nvPicPr>
          <p:cNvPr descr="image.png" id="350" name="Google Shape;350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19846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1"/>
          <p:cNvSpPr txBox="1"/>
          <p:nvPr/>
        </p:nvSpPr>
        <p:spPr>
          <a:xfrm>
            <a:off x="1666875" y="3092797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https://static.wixstatic.com/media/9282ac_d67228d57c2b4c4492482fb6079d3819~mv2.jpg/v1/fill/w_568,h_386,al_c,q_80,usm_0.66_1.00_0.01,enc_avif,quality_auto/9282ac_d67228d57c2b4c4492482fb6079d3819~mv2.jpg</a:t>
            </a:r>
            <a:endParaRPr/>
          </a:p>
        </p:txBody>
      </p:sp>
      <p:sp>
        <p:nvSpPr>
          <p:cNvPr id="352" name="Google Shape;352;p31"/>
          <p:cNvSpPr txBox="1"/>
          <p:nvPr/>
        </p:nvSpPr>
        <p:spPr>
          <a:xfrm>
            <a:off x="1666875" y="353660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Mukta"/>
                <a:ea typeface="Mukta"/>
                <a:cs typeface="Mukta"/>
                <a:sym typeface="Mukta"/>
              </a:rPr>
              <a:t>www.rancholabs.com</a:t>
            </a:r>
            <a:endParaRPr/>
          </a:p>
        </p:txBody>
      </p:sp>
      <p:pic>
        <p:nvPicPr>
          <p:cNvPr descr="image.png" id="353" name="Google Shape;353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08220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1"/>
          <p:cNvSpPr txBox="1"/>
          <p:nvPr/>
        </p:nvSpPr>
        <p:spPr>
          <a:xfrm>
            <a:off x="1666875" y="407565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https://i.sstatic.net/65xK2.png</a:t>
            </a:r>
            <a:endParaRPr/>
          </a:p>
        </p:txBody>
      </p:sp>
      <p:sp>
        <p:nvSpPr>
          <p:cNvPr id="355" name="Google Shape;355;p31"/>
          <p:cNvSpPr txBox="1"/>
          <p:nvPr/>
        </p:nvSpPr>
        <p:spPr>
          <a:xfrm>
            <a:off x="1666875" y="432137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Mukta"/>
                <a:ea typeface="Mukta"/>
                <a:cs typeface="Mukta"/>
                <a:sym typeface="Mukta"/>
              </a:rPr>
              <a:t>physics.stackexchange.com</a:t>
            </a:r>
            <a:endParaRPr/>
          </a:p>
        </p:txBody>
      </p:sp>
      <p:pic>
        <p:nvPicPr>
          <p:cNvPr descr="image.png" id="356" name="Google Shape;356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86697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31"/>
          <p:cNvSpPr txBox="1"/>
          <p:nvPr/>
        </p:nvSpPr>
        <p:spPr>
          <a:xfrm>
            <a:off x="1666875" y="486042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https://media.geeksforgeeks.org/wp-content/uploads/20231208200146/Archemedes-Principle.png</a:t>
            </a:r>
            <a:endParaRPr/>
          </a:p>
        </p:txBody>
      </p:sp>
      <p:sp>
        <p:nvSpPr>
          <p:cNvPr id="358" name="Google Shape;358;p31"/>
          <p:cNvSpPr txBox="1"/>
          <p:nvPr/>
        </p:nvSpPr>
        <p:spPr>
          <a:xfrm>
            <a:off x="1666875" y="510614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Mukta"/>
                <a:ea typeface="Mukta"/>
                <a:cs typeface="Mukta"/>
                <a:sym typeface="Mukta"/>
              </a:rPr>
              <a:t>www.geeksforgeeks.org</a:t>
            </a:r>
            <a:endParaRPr/>
          </a:p>
        </p:txBody>
      </p:sp>
      <p:pic>
        <p:nvPicPr>
          <p:cNvPr descr="image.png" id="359" name="Google Shape;359;p3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65174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31"/>
          <p:cNvSpPr txBox="1"/>
          <p:nvPr/>
        </p:nvSpPr>
        <p:spPr>
          <a:xfrm>
            <a:off x="1666875" y="5645199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https://cdn.teachoo.com/a6d9a709-14fc-4dce-92e4-7f009078381a/why-do-objects-float-or-sink-in-water.jpg</a:t>
            </a:r>
            <a:endParaRPr/>
          </a:p>
        </p:txBody>
      </p:sp>
      <p:sp>
        <p:nvSpPr>
          <p:cNvPr id="361" name="Google Shape;361;p31"/>
          <p:cNvSpPr txBox="1"/>
          <p:nvPr/>
        </p:nvSpPr>
        <p:spPr>
          <a:xfrm>
            <a:off x="1666875" y="589091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Mukta"/>
                <a:ea typeface="Mukta"/>
                <a:cs typeface="Mukta"/>
                <a:sym typeface="Mukta"/>
              </a:rPr>
              <a:t>www.teachoo.com</a:t>
            </a:r>
            <a:endParaRPr/>
          </a:p>
        </p:txBody>
      </p:sp>
      <p:sp>
        <p:nvSpPr>
          <p:cNvPr id="362" name="Google Shape;362;p31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284C7"/>
                </a:solidFill>
                <a:latin typeface="Mukta"/>
                <a:ea typeface="Mukta"/>
                <a:cs typeface="Mukta"/>
                <a:sym typeface="Mukta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7" name="Google Shape;36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32"/>
          <p:cNvSpPr/>
          <p:nvPr/>
        </p:nvSpPr>
        <p:spPr>
          <a:xfrm>
            <a:off x="871983" y="2656582"/>
            <a:ext cx="10448032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2"/>
          <p:cNvSpPr/>
          <p:nvPr/>
        </p:nvSpPr>
        <p:spPr>
          <a:xfrm>
            <a:off x="871983" y="3441352"/>
            <a:ext cx="10448032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2"/>
          <p:cNvSpPr/>
          <p:nvPr/>
        </p:nvSpPr>
        <p:spPr>
          <a:xfrm>
            <a:off x="871983" y="3431827"/>
            <a:ext cx="10448032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2"/>
          <p:cNvSpPr/>
          <p:nvPr/>
        </p:nvSpPr>
        <p:spPr>
          <a:xfrm>
            <a:off x="871983" y="3431827"/>
            <a:ext cx="10448032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2"/>
          <p:cNvSpPr/>
          <p:nvPr/>
        </p:nvSpPr>
        <p:spPr>
          <a:xfrm>
            <a:off x="871983" y="4216598"/>
            <a:ext cx="10448032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2"/>
          <p:cNvSpPr/>
          <p:nvPr/>
        </p:nvSpPr>
        <p:spPr>
          <a:xfrm>
            <a:off x="871983" y="4216598"/>
            <a:ext cx="10448032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74" name="Google Shape;374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1983" y="280600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2"/>
          <p:cNvSpPr txBox="1"/>
          <p:nvPr/>
        </p:nvSpPr>
        <p:spPr>
          <a:xfrm>
            <a:off x="1967358" y="2799457"/>
            <a:ext cx="9352657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https://upload.wikimedia.org/wikipedia/commons/7/74/Buoyancy.svg</a:t>
            </a:r>
            <a:endParaRPr/>
          </a:p>
        </p:txBody>
      </p:sp>
      <p:sp>
        <p:nvSpPr>
          <p:cNvPr id="376" name="Google Shape;376;p32"/>
          <p:cNvSpPr txBox="1"/>
          <p:nvPr/>
        </p:nvSpPr>
        <p:spPr>
          <a:xfrm>
            <a:off x="1967358" y="3045172"/>
            <a:ext cx="9352657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Mukta"/>
                <a:ea typeface="Mukta"/>
                <a:cs typeface="Mukta"/>
                <a:sym typeface="Mukta"/>
              </a:rPr>
              <a:t>en.wikipedia.org</a:t>
            </a:r>
            <a:endParaRPr/>
          </a:p>
        </p:txBody>
      </p:sp>
      <p:pic>
        <p:nvPicPr>
          <p:cNvPr descr="image.png" id="377" name="Google Shape;377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1983" y="359077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 txBox="1"/>
          <p:nvPr/>
        </p:nvSpPr>
        <p:spPr>
          <a:xfrm>
            <a:off x="1967358" y="3584227"/>
            <a:ext cx="9352657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https://i.ytimg.com/vi/sLs-nJdj7C0/hq720.jpg?sqp=-oaymwEhCK4FEIIDSFryq4qpAxMIARUAAAAAGAElAADIQj0AgKJD&amp;rs=AOn4CLCEHG6AiXXwnu2Z03j5NDH7oC2taw</a:t>
            </a:r>
            <a:endParaRPr/>
          </a:p>
        </p:txBody>
      </p:sp>
      <p:sp>
        <p:nvSpPr>
          <p:cNvPr id="379" name="Google Shape;379;p32"/>
          <p:cNvSpPr txBox="1"/>
          <p:nvPr/>
        </p:nvSpPr>
        <p:spPr>
          <a:xfrm>
            <a:off x="1967358" y="3829942"/>
            <a:ext cx="9352657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Mukta"/>
                <a:ea typeface="Mukta"/>
                <a:cs typeface="Mukta"/>
                <a:sym typeface="Mukta"/>
              </a:rPr>
              <a:t>www.youtube.com</a:t>
            </a:r>
            <a:endParaRPr/>
          </a:p>
        </p:txBody>
      </p:sp>
      <p:pic>
        <p:nvPicPr>
          <p:cNvPr descr="image.png" id="380" name="Google Shape;380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1983" y="437554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1967358" y="4368998"/>
            <a:ext cx="9352657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https://cdnjadusaywebsite.blob.core.windows.net/cdncontainer/assets/images/physics/class9/fluids/AtmosphericPressure/fortin-barometer.png</a:t>
            </a:r>
            <a:endParaRPr/>
          </a:p>
        </p:txBody>
      </p:sp>
      <p:sp>
        <p:nvSpPr>
          <p:cNvPr id="382" name="Google Shape;382;p32"/>
          <p:cNvSpPr txBox="1"/>
          <p:nvPr/>
        </p:nvSpPr>
        <p:spPr>
          <a:xfrm>
            <a:off x="1967358" y="4614713"/>
            <a:ext cx="9352657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Mukta"/>
                <a:ea typeface="Mukta"/>
                <a:cs typeface="Mukta"/>
                <a:sym typeface="Mukta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Mukta"/>
                <a:ea typeface="Mukta"/>
                <a:cs typeface="Mukta"/>
                <a:sym typeface="Mukta"/>
              </a:rPr>
              <a:t>www.jadusay.com</a:t>
            </a:r>
            <a:endParaRPr/>
          </a:p>
        </p:txBody>
      </p:sp>
      <p:sp>
        <p:nvSpPr>
          <p:cNvPr id="383" name="Google Shape;383;p32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284C7"/>
                </a:solidFill>
                <a:latin typeface="Mukta"/>
                <a:ea typeface="Mukta"/>
                <a:cs typeface="Mukta"/>
                <a:sym typeface="Mukta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